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5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1016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8650" y="451381"/>
            <a:ext cx="7884414" cy="4066540"/>
          </a:xfrm>
        </p:spPr>
        <p:txBody>
          <a:bodyPr anchor="b">
            <a:normAutofit/>
          </a:bodyPr>
          <a:lstStyle/>
          <a:p>
            <a:pPr algn="l"/>
            <a:r>
              <a:rPr lang="en-US" sz="5700"/>
              <a:t>Automating Malicious File Neutralization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8649" y="4983276"/>
            <a:ext cx="7884414" cy="1126680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/>
              <a:t>Presenter: Meera Pillai</a:t>
            </a:r>
          </a:p>
          <a:p>
            <a:pPr algn="l">
              <a:lnSpc>
                <a:spcPct val="90000"/>
              </a:lnSpc>
            </a:pPr>
            <a:r>
              <a:rPr lang="en-US" dirty="0"/>
              <a:t>Cybersecurity Analyst </a:t>
            </a:r>
          </a:p>
          <a:p>
            <a:pPr algn="l">
              <a:lnSpc>
                <a:spcPct val="90000"/>
              </a:lnSpc>
            </a:pPr>
            <a:endParaRPr lang="en-US" dirty="0"/>
          </a:p>
        </p:txBody>
      </p:sp>
      <p:sp>
        <p:nvSpPr>
          <p:cNvPr id="53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4718595"/>
            <a:ext cx="4057650" cy="18288"/>
          </a:xfrm>
          <a:custGeom>
            <a:avLst/>
            <a:gdLst>
              <a:gd name="connsiteX0" fmla="*/ 0 w 4057650"/>
              <a:gd name="connsiteY0" fmla="*/ 0 h 18288"/>
              <a:gd name="connsiteX1" fmla="*/ 757428 w 4057650"/>
              <a:gd name="connsiteY1" fmla="*/ 0 h 18288"/>
              <a:gd name="connsiteX2" fmla="*/ 1474279 w 4057650"/>
              <a:gd name="connsiteY2" fmla="*/ 0 h 18288"/>
              <a:gd name="connsiteX3" fmla="*/ 2191131 w 4057650"/>
              <a:gd name="connsiteY3" fmla="*/ 0 h 18288"/>
              <a:gd name="connsiteX4" fmla="*/ 2745676 w 4057650"/>
              <a:gd name="connsiteY4" fmla="*/ 0 h 18288"/>
              <a:gd name="connsiteX5" fmla="*/ 3340798 w 4057650"/>
              <a:gd name="connsiteY5" fmla="*/ 0 h 18288"/>
              <a:gd name="connsiteX6" fmla="*/ 4057650 w 4057650"/>
              <a:gd name="connsiteY6" fmla="*/ 0 h 18288"/>
              <a:gd name="connsiteX7" fmla="*/ 4057650 w 4057650"/>
              <a:gd name="connsiteY7" fmla="*/ 18288 h 18288"/>
              <a:gd name="connsiteX8" fmla="*/ 3381375 w 4057650"/>
              <a:gd name="connsiteY8" fmla="*/ 18288 h 18288"/>
              <a:gd name="connsiteX9" fmla="*/ 2826830 w 4057650"/>
              <a:gd name="connsiteY9" fmla="*/ 18288 h 18288"/>
              <a:gd name="connsiteX10" fmla="*/ 2272284 w 4057650"/>
              <a:gd name="connsiteY10" fmla="*/ 18288 h 18288"/>
              <a:gd name="connsiteX11" fmla="*/ 1555432 w 4057650"/>
              <a:gd name="connsiteY11" fmla="*/ 18288 h 18288"/>
              <a:gd name="connsiteX12" fmla="*/ 960310 w 4057650"/>
              <a:gd name="connsiteY12" fmla="*/ 18288 h 18288"/>
              <a:gd name="connsiteX13" fmla="*/ 0 w 4057650"/>
              <a:gd name="connsiteY13" fmla="*/ 18288 h 18288"/>
              <a:gd name="connsiteX14" fmla="*/ 0 w 4057650"/>
              <a:gd name="connsiteY1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057650" h="18288" fill="none" extrusionOk="0">
                <a:moveTo>
                  <a:pt x="0" y="0"/>
                </a:moveTo>
                <a:cubicBezTo>
                  <a:pt x="371182" y="3227"/>
                  <a:pt x="494372" y="9222"/>
                  <a:pt x="757428" y="0"/>
                </a:cubicBezTo>
                <a:cubicBezTo>
                  <a:pt x="1020484" y="-9222"/>
                  <a:pt x="1116719" y="-4357"/>
                  <a:pt x="1474279" y="0"/>
                </a:cubicBezTo>
                <a:cubicBezTo>
                  <a:pt x="1831839" y="4357"/>
                  <a:pt x="1920973" y="-11809"/>
                  <a:pt x="2191131" y="0"/>
                </a:cubicBezTo>
                <a:cubicBezTo>
                  <a:pt x="2461289" y="11809"/>
                  <a:pt x="2589480" y="-22604"/>
                  <a:pt x="2745676" y="0"/>
                </a:cubicBezTo>
                <a:cubicBezTo>
                  <a:pt x="2901872" y="22604"/>
                  <a:pt x="3136452" y="-12306"/>
                  <a:pt x="3340798" y="0"/>
                </a:cubicBezTo>
                <a:cubicBezTo>
                  <a:pt x="3545144" y="12306"/>
                  <a:pt x="3766934" y="-21556"/>
                  <a:pt x="4057650" y="0"/>
                </a:cubicBezTo>
                <a:cubicBezTo>
                  <a:pt x="4057150" y="8855"/>
                  <a:pt x="4057759" y="14521"/>
                  <a:pt x="4057650" y="18288"/>
                </a:cubicBezTo>
                <a:cubicBezTo>
                  <a:pt x="3743404" y="40125"/>
                  <a:pt x="3625516" y="-14923"/>
                  <a:pt x="3381375" y="18288"/>
                </a:cubicBezTo>
                <a:cubicBezTo>
                  <a:pt x="3137235" y="51499"/>
                  <a:pt x="2946571" y="1"/>
                  <a:pt x="2826830" y="18288"/>
                </a:cubicBezTo>
                <a:cubicBezTo>
                  <a:pt x="2707090" y="36575"/>
                  <a:pt x="2402756" y="1432"/>
                  <a:pt x="2272284" y="18288"/>
                </a:cubicBezTo>
                <a:cubicBezTo>
                  <a:pt x="2141812" y="35144"/>
                  <a:pt x="1895935" y="18199"/>
                  <a:pt x="1555432" y="18288"/>
                </a:cubicBezTo>
                <a:cubicBezTo>
                  <a:pt x="1214929" y="18377"/>
                  <a:pt x="1103072" y="14503"/>
                  <a:pt x="960310" y="18288"/>
                </a:cubicBezTo>
                <a:cubicBezTo>
                  <a:pt x="817548" y="22073"/>
                  <a:pt x="402272" y="-29359"/>
                  <a:pt x="0" y="18288"/>
                </a:cubicBezTo>
                <a:cubicBezTo>
                  <a:pt x="683" y="12014"/>
                  <a:pt x="724" y="5908"/>
                  <a:pt x="0" y="0"/>
                </a:cubicBezTo>
                <a:close/>
              </a:path>
              <a:path w="4057650" h="18288" stroke="0" extrusionOk="0">
                <a:moveTo>
                  <a:pt x="0" y="0"/>
                </a:moveTo>
                <a:cubicBezTo>
                  <a:pt x="248348" y="13145"/>
                  <a:pt x="486117" y="25042"/>
                  <a:pt x="635698" y="0"/>
                </a:cubicBezTo>
                <a:cubicBezTo>
                  <a:pt x="785279" y="-25042"/>
                  <a:pt x="917762" y="-5537"/>
                  <a:pt x="1190244" y="0"/>
                </a:cubicBezTo>
                <a:cubicBezTo>
                  <a:pt x="1462726" y="5537"/>
                  <a:pt x="1667120" y="-21232"/>
                  <a:pt x="1947672" y="0"/>
                </a:cubicBezTo>
                <a:cubicBezTo>
                  <a:pt x="2228224" y="21232"/>
                  <a:pt x="2280631" y="-21698"/>
                  <a:pt x="2583370" y="0"/>
                </a:cubicBezTo>
                <a:cubicBezTo>
                  <a:pt x="2886109" y="21698"/>
                  <a:pt x="3022941" y="19647"/>
                  <a:pt x="3219069" y="0"/>
                </a:cubicBezTo>
                <a:cubicBezTo>
                  <a:pt x="3415197" y="-19647"/>
                  <a:pt x="3747500" y="26991"/>
                  <a:pt x="4057650" y="0"/>
                </a:cubicBezTo>
                <a:cubicBezTo>
                  <a:pt x="4056752" y="7180"/>
                  <a:pt x="4057819" y="13790"/>
                  <a:pt x="4057650" y="18288"/>
                </a:cubicBezTo>
                <a:cubicBezTo>
                  <a:pt x="3865148" y="-3313"/>
                  <a:pt x="3702543" y="49468"/>
                  <a:pt x="3381375" y="18288"/>
                </a:cubicBezTo>
                <a:cubicBezTo>
                  <a:pt x="3060208" y="-12892"/>
                  <a:pt x="2956571" y="-8678"/>
                  <a:pt x="2826830" y="18288"/>
                </a:cubicBezTo>
                <a:cubicBezTo>
                  <a:pt x="2697089" y="45254"/>
                  <a:pt x="2411031" y="43154"/>
                  <a:pt x="2150555" y="18288"/>
                </a:cubicBezTo>
                <a:cubicBezTo>
                  <a:pt x="1890080" y="-6578"/>
                  <a:pt x="1741827" y="-615"/>
                  <a:pt x="1474280" y="18288"/>
                </a:cubicBezTo>
                <a:cubicBezTo>
                  <a:pt x="1206734" y="37191"/>
                  <a:pt x="998203" y="33335"/>
                  <a:pt x="838581" y="18288"/>
                </a:cubicBezTo>
                <a:cubicBezTo>
                  <a:pt x="678959" y="3241"/>
                  <a:pt x="187101" y="-13212"/>
                  <a:pt x="0" y="18288"/>
                </a:cubicBezTo>
                <a:cubicBezTo>
                  <a:pt x="571" y="10093"/>
                  <a:pt x="-125" y="840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/>
              <a:t>Introduction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900" b="1" i="0" dirty="0" err="1">
                <a:effectLst/>
              </a:rPr>
              <a:t>Stay@home</a:t>
            </a:r>
            <a:r>
              <a:rPr lang="en-US" sz="1900" b="1" i="0" dirty="0">
                <a:effectLst/>
              </a:rPr>
              <a:t> </a:t>
            </a:r>
            <a:r>
              <a:rPr lang="en-US" sz="1900" b="0" i="0" dirty="0">
                <a:effectLst/>
              </a:rPr>
              <a:t>is one of our clients, serving merchants, artisans and other professionals who have been impacted by a large-scale security threat. Since these clients are not IT experts, they rely on our cybersecurity team for their website security. A security alert was raised, which revealed that there were malicious files that were capable of executing remote commands on hundreds of client’s websites. Since there is a large number of affected sites, it is impossible to delete them all by hand. </a:t>
            </a:r>
            <a:r>
              <a:rPr lang="en-US" sz="1900" b="0" i="0">
                <a:effectLst/>
              </a:rPr>
              <a:t>This means that there is a need to use an automated system to easily identify and eliminate the threats without compromising on the security of the client’s websites.</a:t>
            </a:r>
          </a:p>
          <a:p>
            <a:pPr marL="0" indent="0">
              <a:buNone/>
            </a:pPr>
            <a:endParaRPr lang="en-US" sz="1900"/>
          </a:p>
          <a:p>
            <a:pPr marL="0" indent="0">
              <a:buNone/>
            </a:pPr>
            <a:r>
              <a:rPr lang="en-US" sz="1900" b="1" dirty="0"/>
              <a:t>My Goal</a:t>
            </a:r>
            <a:r>
              <a:rPr lang="en-US" sz="1900" dirty="0"/>
              <a:t>: As a cybersecurity analyst, I have been given the task of automating identification and neutralization using Python scripts.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/>
              <a:t>Project Goal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900" dirty="0"/>
              <a:t>• Search for malicious files across client websites.</a:t>
            </a:r>
          </a:p>
          <a:p>
            <a:pPr marL="0" indent="0">
              <a:buNone/>
            </a:pPr>
            <a:r>
              <a:rPr lang="en-US" sz="1900" dirty="0"/>
              <a:t>• Identify files using predefined criteria (Conditions)</a:t>
            </a:r>
          </a:p>
          <a:p>
            <a:pPr marL="0" indent="0">
              <a:buNone/>
            </a:pPr>
            <a:r>
              <a:rPr lang="en-US" sz="1900" dirty="0"/>
              <a:t>• Neutralize the files by renaming them and not deleting ( to avoid issues with critical dependencies)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3" name="Rectangle 62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40080"/>
            <a:ext cx="3614166" cy="1481328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/>
              <a:t>Characteristics of Malicious Files</a:t>
            </a:r>
          </a:p>
        </p:txBody>
      </p:sp>
      <p:sp>
        <p:nvSpPr>
          <p:cNvPr id="64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372868"/>
            <a:ext cx="2441321" cy="18288"/>
          </a:xfrm>
          <a:custGeom>
            <a:avLst/>
            <a:gdLst>
              <a:gd name="connsiteX0" fmla="*/ 0 w 2441321"/>
              <a:gd name="connsiteY0" fmla="*/ 0 h 18288"/>
              <a:gd name="connsiteX1" fmla="*/ 585917 w 2441321"/>
              <a:gd name="connsiteY1" fmla="*/ 0 h 18288"/>
              <a:gd name="connsiteX2" fmla="*/ 1196247 w 2441321"/>
              <a:gd name="connsiteY2" fmla="*/ 0 h 18288"/>
              <a:gd name="connsiteX3" fmla="*/ 1806578 w 2441321"/>
              <a:gd name="connsiteY3" fmla="*/ 0 h 18288"/>
              <a:gd name="connsiteX4" fmla="*/ 2441321 w 2441321"/>
              <a:gd name="connsiteY4" fmla="*/ 0 h 18288"/>
              <a:gd name="connsiteX5" fmla="*/ 2441321 w 2441321"/>
              <a:gd name="connsiteY5" fmla="*/ 18288 h 18288"/>
              <a:gd name="connsiteX6" fmla="*/ 1830991 w 2441321"/>
              <a:gd name="connsiteY6" fmla="*/ 18288 h 18288"/>
              <a:gd name="connsiteX7" fmla="*/ 1269487 w 2441321"/>
              <a:gd name="connsiteY7" fmla="*/ 18288 h 18288"/>
              <a:gd name="connsiteX8" fmla="*/ 707983 w 2441321"/>
              <a:gd name="connsiteY8" fmla="*/ 18288 h 18288"/>
              <a:gd name="connsiteX9" fmla="*/ 0 w 2441321"/>
              <a:gd name="connsiteY9" fmla="*/ 18288 h 18288"/>
              <a:gd name="connsiteX10" fmla="*/ 0 w 2441321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202" y="2660904"/>
            <a:ext cx="3614166" cy="354787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900" b="1"/>
              <a:t>Based on Jean’s email:</a:t>
            </a:r>
          </a:p>
          <a:p>
            <a:pPr marL="0" indent="0">
              <a:buNone/>
            </a:pPr>
            <a:endParaRPr lang="en-US" sz="1900"/>
          </a:p>
          <a:p>
            <a:pPr marL="0" indent="0">
              <a:buNone/>
            </a:pPr>
            <a:r>
              <a:rPr lang="en-US" sz="1900"/>
              <a:t>• Files with prefix: 'xmc6_' (e.g., xmc6_cmd.php, xmc6_epaizr.php)</a:t>
            </a:r>
          </a:p>
          <a:p>
            <a:pPr marL="0" indent="0">
              <a:buNone/>
            </a:pPr>
            <a:endParaRPr lang="en-US" sz="1900"/>
          </a:p>
          <a:p>
            <a:pPr marL="0" indent="0">
              <a:buNone/>
            </a:pPr>
            <a:r>
              <a:rPr lang="en-US" sz="1900"/>
              <a:t>• Files containing IP address: 8.13.193.9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FF3D2E-C826-395D-0843-B6048E4805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4286" y="2052317"/>
            <a:ext cx="4094226" cy="275336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49B9E8A9-352D-4DCB-9485-C777000D4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9486" y="1078992"/>
            <a:ext cx="4511275" cy="1536192"/>
          </a:xfrm>
        </p:spPr>
        <p:txBody>
          <a:bodyPr anchor="b">
            <a:normAutofit/>
          </a:bodyPr>
          <a:lstStyle/>
          <a:p>
            <a:r>
              <a:rPr lang="en-US" sz="4500"/>
              <a:t>Script 1: Scanning Files</a:t>
            </a:r>
            <a:endParaRPr lang="en-US" sz="45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2A9B0E5-C2C1-4B85-99A9-117A659D5F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30758" y="431969"/>
            <a:ext cx="73152" cy="411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A8AEACA-9535-4BE8-A91B-8BE82BA54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879" y="2935541"/>
            <a:ext cx="46634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55FD41-EC08-74C7-5A90-BC8E6C21CC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7014" y="3135086"/>
            <a:ext cx="3882072" cy="2825495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486" y="3355848"/>
            <a:ext cx="4593778" cy="28254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900"/>
              <a:t>• Reads all files in the 'clients_sites' folder.</a:t>
            </a:r>
          </a:p>
          <a:p>
            <a:pPr marL="0" indent="0">
              <a:buNone/>
            </a:pPr>
            <a:r>
              <a:rPr lang="en-US" sz="1900"/>
              <a:t>• Lists all detected files for further processing.</a:t>
            </a:r>
          </a:p>
          <a:p>
            <a:pPr marL="0" indent="0">
              <a:buNone/>
            </a:pPr>
            <a:r>
              <a:rPr lang="en-US" sz="1900"/>
              <a:t>• Helps in identifying potentially harmful files.</a:t>
            </a:r>
            <a:endParaRPr lang="en-US" sz="1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EED6F9-659E-053C-F1A4-BD7B983566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3264" y="648341"/>
            <a:ext cx="3882072" cy="23054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329184"/>
            <a:ext cx="5170932" cy="1783080"/>
          </a:xfrm>
        </p:spPr>
        <p:txBody>
          <a:bodyPr anchor="b">
            <a:normAutofit/>
          </a:bodyPr>
          <a:lstStyle/>
          <a:p>
            <a:r>
              <a:rPr lang="en-US" sz="4700"/>
              <a:t>Script 2: Identifying Files by Prefix</a:t>
            </a:r>
          </a:p>
        </p:txBody>
      </p:sp>
      <p:sp>
        <p:nvSpPr>
          <p:cNvPr id="35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214" y="2395728"/>
            <a:ext cx="3182691" cy="18288"/>
          </a:xfrm>
          <a:custGeom>
            <a:avLst/>
            <a:gdLst>
              <a:gd name="connsiteX0" fmla="*/ 0 w 3182691"/>
              <a:gd name="connsiteY0" fmla="*/ 0 h 18288"/>
              <a:gd name="connsiteX1" fmla="*/ 636538 w 3182691"/>
              <a:gd name="connsiteY1" fmla="*/ 0 h 18288"/>
              <a:gd name="connsiteX2" fmla="*/ 1273076 w 3182691"/>
              <a:gd name="connsiteY2" fmla="*/ 0 h 18288"/>
              <a:gd name="connsiteX3" fmla="*/ 1909615 w 3182691"/>
              <a:gd name="connsiteY3" fmla="*/ 0 h 18288"/>
              <a:gd name="connsiteX4" fmla="*/ 2482499 w 3182691"/>
              <a:gd name="connsiteY4" fmla="*/ 0 h 18288"/>
              <a:gd name="connsiteX5" fmla="*/ 3182691 w 3182691"/>
              <a:gd name="connsiteY5" fmla="*/ 0 h 18288"/>
              <a:gd name="connsiteX6" fmla="*/ 3182691 w 3182691"/>
              <a:gd name="connsiteY6" fmla="*/ 18288 h 18288"/>
              <a:gd name="connsiteX7" fmla="*/ 2609807 w 3182691"/>
              <a:gd name="connsiteY7" fmla="*/ 18288 h 18288"/>
              <a:gd name="connsiteX8" fmla="*/ 2068749 w 3182691"/>
              <a:gd name="connsiteY8" fmla="*/ 18288 h 18288"/>
              <a:gd name="connsiteX9" fmla="*/ 1432211 w 3182691"/>
              <a:gd name="connsiteY9" fmla="*/ 18288 h 18288"/>
              <a:gd name="connsiteX10" fmla="*/ 859327 w 3182691"/>
              <a:gd name="connsiteY10" fmla="*/ 18288 h 18288"/>
              <a:gd name="connsiteX11" fmla="*/ 0 w 3182691"/>
              <a:gd name="connsiteY11" fmla="*/ 18288 h 18288"/>
              <a:gd name="connsiteX12" fmla="*/ 0 w 3182691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82691" h="18288" fill="none" extrusionOk="0">
                <a:moveTo>
                  <a:pt x="0" y="0"/>
                </a:moveTo>
                <a:cubicBezTo>
                  <a:pt x="253588" y="25878"/>
                  <a:pt x="409323" y="-5359"/>
                  <a:pt x="636538" y="0"/>
                </a:cubicBezTo>
                <a:cubicBezTo>
                  <a:pt x="863753" y="5359"/>
                  <a:pt x="1013406" y="3458"/>
                  <a:pt x="1273076" y="0"/>
                </a:cubicBezTo>
                <a:cubicBezTo>
                  <a:pt x="1532746" y="-3458"/>
                  <a:pt x="1697408" y="-16840"/>
                  <a:pt x="1909615" y="0"/>
                </a:cubicBezTo>
                <a:cubicBezTo>
                  <a:pt x="2121822" y="16840"/>
                  <a:pt x="2213494" y="-18555"/>
                  <a:pt x="2482499" y="0"/>
                </a:cubicBezTo>
                <a:cubicBezTo>
                  <a:pt x="2751504" y="18555"/>
                  <a:pt x="3004132" y="-28750"/>
                  <a:pt x="3182691" y="0"/>
                </a:cubicBezTo>
                <a:cubicBezTo>
                  <a:pt x="3183133" y="4516"/>
                  <a:pt x="3181864" y="12266"/>
                  <a:pt x="3182691" y="18288"/>
                </a:cubicBezTo>
                <a:cubicBezTo>
                  <a:pt x="2947041" y="16687"/>
                  <a:pt x="2875741" y="22937"/>
                  <a:pt x="2609807" y="18288"/>
                </a:cubicBezTo>
                <a:cubicBezTo>
                  <a:pt x="2343873" y="13639"/>
                  <a:pt x="2331203" y="31729"/>
                  <a:pt x="2068749" y="18288"/>
                </a:cubicBezTo>
                <a:cubicBezTo>
                  <a:pt x="1806295" y="4847"/>
                  <a:pt x="1713773" y="47088"/>
                  <a:pt x="1432211" y="18288"/>
                </a:cubicBezTo>
                <a:cubicBezTo>
                  <a:pt x="1150649" y="-10512"/>
                  <a:pt x="982765" y="3747"/>
                  <a:pt x="859327" y="18288"/>
                </a:cubicBezTo>
                <a:cubicBezTo>
                  <a:pt x="735889" y="32829"/>
                  <a:pt x="254183" y="35231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182691" h="18288" stroke="0" extrusionOk="0">
                <a:moveTo>
                  <a:pt x="0" y="0"/>
                </a:moveTo>
                <a:cubicBezTo>
                  <a:pt x="247695" y="-19360"/>
                  <a:pt x="392581" y="-28596"/>
                  <a:pt x="572884" y="0"/>
                </a:cubicBezTo>
                <a:cubicBezTo>
                  <a:pt x="753187" y="28596"/>
                  <a:pt x="922042" y="4121"/>
                  <a:pt x="1113942" y="0"/>
                </a:cubicBezTo>
                <a:cubicBezTo>
                  <a:pt x="1305842" y="-4121"/>
                  <a:pt x="1501806" y="28092"/>
                  <a:pt x="1686826" y="0"/>
                </a:cubicBezTo>
                <a:cubicBezTo>
                  <a:pt x="1871846" y="-28092"/>
                  <a:pt x="2170181" y="-20672"/>
                  <a:pt x="2323364" y="0"/>
                </a:cubicBezTo>
                <a:cubicBezTo>
                  <a:pt x="2476547" y="20672"/>
                  <a:pt x="2919163" y="6097"/>
                  <a:pt x="3182691" y="0"/>
                </a:cubicBezTo>
                <a:cubicBezTo>
                  <a:pt x="3183268" y="4624"/>
                  <a:pt x="3183510" y="11191"/>
                  <a:pt x="3182691" y="18288"/>
                </a:cubicBezTo>
                <a:cubicBezTo>
                  <a:pt x="3026064" y="-10849"/>
                  <a:pt x="2775005" y="23067"/>
                  <a:pt x="2546153" y="18288"/>
                </a:cubicBezTo>
                <a:cubicBezTo>
                  <a:pt x="2317301" y="13509"/>
                  <a:pt x="2164351" y="-9884"/>
                  <a:pt x="1845961" y="18288"/>
                </a:cubicBezTo>
                <a:cubicBezTo>
                  <a:pt x="1527571" y="46460"/>
                  <a:pt x="1455006" y="5824"/>
                  <a:pt x="1304903" y="18288"/>
                </a:cubicBezTo>
                <a:cubicBezTo>
                  <a:pt x="1154800" y="30752"/>
                  <a:pt x="942107" y="-12056"/>
                  <a:pt x="604711" y="18288"/>
                </a:cubicBezTo>
                <a:cubicBezTo>
                  <a:pt x="267315" y="48632"/>
                  <a:pt x="141927" y="-8395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" y="2706624"/>
            <a:ext cx="5170932" cy="34838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900" dirty="0"/>
              <a:t>• Extracts file names from '</a:t>
            </a:r>
            <a:r>
              <a:rPr lang="en-US" sz="1900"/>
              <a:t>clients_sites</a:t>
            </a:r>
            <a:r>
              <a:rPr lang="en-US" sz="1900" dirty="0"/>
              <a:t>'.</a:t>
            </a:r>
          </a:p>
          <a:p>
            <a:pPr marL="0" indent="0">
              <a:buNone/>
            </a:pPr>
            <a:r>
              <a:rPr lang="en-US" sz="1900" dirty="0"/>
              <a:t>• Compares names with prefix 'xmc6_'.</a:t>
            </a:r>
          </a:p>
          <a:p>
            <a:pPr marL="0" indent="0">
              <a:buNone/>
            </a:pPr>
            <a:r>
              <a:rPr lang="en-US" sz="1900" dirty="0"/>
              <a:t>• Displays the names of potentially malicious files.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ADAFAF-F24E-335A-185A-213DB8241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9528" y="1359241"/>
            <a:ext cx="3319014" cy="2325859"/>
          </a:xfrm>
          <a:prstGeom prst="rect">
            <a:avLst/>
          </a:prstGeom>
        </p:spPr>
      </p:pic>
      <p:pic>
        <p:nvPicPr>
          <p:cNvPr id="6" name="Picture 5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1597D926-D1E5-E5E3-C12E-00656CAFC2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5812" y="4255741"/>
            <a:ext cx="3319014" cy="11588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CEF6118E-44FB-4509-B4D9-129052E4C6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627" y="525195"/>
            <a:ext cx="3814288" cy="1812369"/>
          </a:xfrm>
        </p:spPr>
        <p:txBody>
          <a:bodyPr anchor="b">
            <a:normAutofit/>
          </a:bodyPr>
          <a:lstStyle/>
          <a:p>
            <a:pPr algn="l"/>
            <a:r>
              <a:rPr lang="en-US" sz="3500" dirty="0"/>
              <a:t>Script 3: Identifying Files by IP Address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089D1C-79C0-6566-A79C-C6A2C5A3B3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125" b="2"/>
          <a:stretch/>
        </p:blipFill>
        <p:spPr>
          <a:xfrm>
            <a:off x="3889915" y="163646"/>
            <a:ext cx="5105027" cy="2623097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9057" y="2980151"/>
            <a:ext cx="3740857" cy="335265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800" dirty="0"/>
              <a:t>• Searches for the IP address 8.13.193.9 in file contents.</a:t>
            </a:r>
          </a:p>
          <a:p>
            <a:pPr marL="0" indent="0">
              <a:buNone/>
            </a:pPr>
            <a:r>
              <a:rPr lang="en-US" sz="1800" dirty="0"/>
              <a:t>• Uses regex (regular expression)to accurately detect matches.</a:t>
            </a:r>
          </a:p>
          <a:p>
            <a:pPr marL="0" indent="0">
              <a:buNone/>
            </a:pPr>
            <a:r>
              <a:rPr lang="en-US" sz="1800" dirty="0"/>
              <a:t>• Ensures malicious files are properly flagged.</a:t>
            </a:r>
          </a:p>
        </p:txBody>
      </p:sp>
      <p:pic>
        <p:nvPicPr>
          <p:cNvPr id="6" name="Picture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DDACBE60-A2F3-3E10-2A45-D2F54E6A7B4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3585" b="-3"/>
          <a:stretch/>
        </p:blipFill>
        <p:spPr>
          <a:xfrm>
            <a:off x="3889915" y="2956875"/>
            <a:ext cx="5105027" cy="335265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49B9E8A9-352D-4DCB-9485-C777000D4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9486" y="1078992"/>
            <a:ext cx="4704588" cy="1536192"/>
          </a:xfrm>
        </p:spPr>
        <p:txBody>
          <a:bodyPr anchor="b">
            <a:normAutofit/>
          </a:bodyPr>
          <a:lstStyle/>
          <a:p>
            <a:pPr algn="l"/>
            <a:r>
              <a:rPr lang="en-US" sz="4500" dirty="0"/>
              <a:t>Script 4: Neutralizing Files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2A9B0E5-C2C1-4B85-99A9-117A659D5F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30758" y="431969"/>
            <a:ext cx="73152" cy="411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A8AEACA-9535-4BE8-A91B-8BE82BA54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879" y="2935541"/>
            <a:ext cx="46634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8DCC3A-D0A7-620F-A889-F2AF78B71D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4074" y="331311"/>
            <a:ext cx="3729859" cy="283464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486" y="3355848"/>
            <a:ext cx="4704588" cy="28254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900" dirty="0"/>
              <a:t>• Renames malicious files by adding '.txt'.</a:t>
            </a:r>
          </a:p>
          <a:p>
            <a:pPr marL="0" indent="0">
              <a:buNone/>
            </a:pPr>
            <a:r>
              <a:rPr lang="en-US" sz="1900" dirty="0"/>
              <a:t>• Prevents execution of this malicious </a:t>
            </a:r>
            <a:r>
              <a:rPr lang="en-US" sz="1900" dirty="0" err="1"/>
              <a:t>php</a:t>
            </a:r>
            <a:r>
              <a:rPr lang="en-US" sz="1900" dirty="0"/>
              <a:t> files on web servers, while preserving for further analysis. </a:t>
            </a:r>
          </a:p>
          <a:p>
            <a:pPr marL="0" indent="0">
              <a:buNone/>
            </a:pPr>
            <a:r>
              <a:rPr lang="en-US" sz="1900" dirty="0"/>
              <a:t>• Uses a </a:t>
            </a:r>
            <a:r>
              <a:rPr lang="en-US" sz="1900" dirty="0" err="1"/>
              <a:t>boolean</a:t>
            </a:r>
            <a:r>
              <a:rPr lang="en-US" sz="1900" dirty="0"/>
              <a:t> flag to determine if renaming is required. The file is only renamed if the flag criteria satisfies the condition (xfc6 and the </a:t>
            </a:r>
            <a:r>
              <a:rPr lang="en-US" sz="1900" dirty="0" err="1"/>
              <a:t>ip</a:t>
            </a:r>
            <a:r>
              <a:rPr lang="en-US" sz="1900" dirty="0"/>
              <a:t> address) and prevent unnecessary renaming of the clean files.</a:t>
            </a:r>
          </a:p>
        </p:txBody>
      </p:sp>
      <p:pic>
        <p:nvPicPr>
          <p:cNvPr id="6" name="Picture 5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C2AA1E00-3E4D-99B3-55D0-EB3EE96D68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4074" y="3429000"/>
            <a:ext cx="3771261" cy="25317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/>
              <a:t>Implementation Summary</a:t>
            </a:r>
          </a:p>
        </p:txBody>
      </p:sp>
      <p:sp>
        <p:nvSpPr>
          <p:cNvPr id="3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900" dirty="0"/>
              <a:t>• Script 1 runs a scans for all files.</a:t>
            </a:r>
          </a:p>
          <a:p>
            <a:pPr marL="0" indent="0">
              <a:buNone/>
            </a:pPr>
            <a:r>
              <a:rPr lang="en-US" sz="1900" dirty="0"/>
              <a:t>• Script 2 looks for files with 'xmc6_' prefix in front of the files.</a:t>
            </a:r>
          </a:p>
          <a:p>
            <a:pPr marL="0" indent="0">
              <a:buNone/>
            </a:pPr>
            <a:r>
              <a:rPr lang="en-US" sz="1900" dirty="0"/>
              <a:t>• Script 3 detects files that have IP 8.13.193.9.</a:t>
            </a:r>
          </a:p>
          <a:p>
            <a:pPr marL="0" indent="0">
              <a:buNone/>
            </a:pPr>
            <a:r>
              <a:rPr lang="en-US" sz="1900" dirty="0"/>
              <a:t>• Script 4 neutralizes all the malicious files that have been identified.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502CB4-E0BD-AC35-A233-9C8063C30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F85DF-994E-4A5A-FBB6-6FD488436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/>
              <a:t>Challenges &amp; Solutions</a:t>
            </a:r>
          </a:p>
        </p:txBody>
      </p:sp>
      <p:sp>
        <p:nvSpPr>
          <p:cNvPr id="3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D6C04-6941-9E0C-130F-8A739B15ED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600" b="1" dirty="0"/>
              <a:t>1. Handling large directories efficiently.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600" b="1" dirty="0"/>
              <a:t>Challenges</a:t>
            </a:r>
            <a:r>
              <a:rPr lang="en-US" sz="1600" dirty="0"/>
              <a:t>: The </a:t>
            </a:r>
            <a:r>
              <a:rPr lang="en-US" sz="1600" dirty="0" err="1"/>
              <a:t>client_sites</a:t>
            </a:r>
            <a:r>
              <a:rPr lang="en-US" sz="1600" dirty="0"/>
              <a:t> folder may contain thousands of files spread through subdirectories and if not handled properly it can slow down the scan and could consume a lot of memory.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600" b="1" dirty="0"/>
              <a:t>Solution</a:t>
            </a:r>
            <a:r>
              <a:rPr lang="en-US" sz="1600" dirty="0"/>
              <a:t>: </a:t>
            </a:r>
            <a:r>
              <a:rPr lang="en-US" sz="1600" dirty="0" err="1"/>
              <a:t>os.walk</a:t>
            </a:r>
            <a:r>
              <a:rPr lang="en-US" sz="1600" dirty="0"/>
              <a:t>(</a:t>
            </a:r>
            <a:r>
              <a:rPr lang="en-US" sz="1600" dirty="0" err="1"/>
              <a:t>base_path</a:t>
            </a:r>
            <a:r>
              <a:rPr lang="en-US" sz="1600" dirty="0"/>
              <a:t>) is used to traverse all subdirectories without loading everything in the memory all together and process the file one by one preventing excessing resource usage.</a:t>
            </a:r>
          </a:p>
          <a:p>
            <a:pPr marL="0" indent="0">
              <a:lnSpc>
                <a:spcPct val="90000"/>
              </a:lnSpc>
              <a:buNone/>
            </a:pPr>
            <a:endParaRPr lang="en-US" sz="16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600" b="1" dirty="0"/>
              <a:t>2. Avoiding false positives in detection.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600" b="1" dirty="0"/>
              <a:t>Challenges : </a:t>
            </a:r>
            <a:r>
              <a:rPr lang="en-US" sz="1600" dirty="0"/>
              <a:t>Not all the files are malicious in nature, and some are genuine and a file having IP 8.13.193.9 in comments or logs doesn’t mean that there is an active threat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600" b="1" dirty="0"/>
              <a:t>Solution: </a:t>
            </a:r>
            <a:r>
              <a:rPr lang="en-US" sz="1600" dirty="0"/>
              <a:t>The script avoids false positives by only flagging files that start with xmc6_, uses regex to exactly match on 8.13.193.9, and has a </a:t>
            </a:r>
            <a:r>
              <a:rPr lang="en-US" sz="1600" dirty="0" err="1"/>
              <a:t>boolean</a:t>
            </a:r>
            <a:r>
              <a:rPr lang="en-US" sz="1600" dirty="0"/>
              <a:t> flag (malicious = False) that will only rename files if they meet at least one malicious criterion.</a:t>
            </a:r>
          </a:p>
        </p:txBody>
      </p:sp>
    </p:spTree>
    <p:extLst>
      <p:ext uri="{BB962C8B-B14F-4D97-AF65-F5344CB8AC3E}">
        <p14:creationId xmlns:p14="http://schemas.microsoft.com/office/powerpoint/2010/main" val="25878819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/>
              <a:t>Challenges &amp; Solutions</a:t>
            </a:r>
          </a:p>
        </p:txBody>
      </p:sp>
      <p:sp>
        <p:nvSpPr>
          <p:cNvPr id="3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800" b="1" dirty="0"/>
              <a:t>3. Ensuring files are only renamed, not deleted.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800" b="1" dirty="0"/>
              <a:t>Challenges</a:t>
            </a:r>
            <a:r>
              <a:rPr lang="en-US" sz="1800" dirty="0"/>
              <a:t>: If deleted outright, they may make website failures as they are system critical and would remove forensic evidence needed for investigation.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800" b="1" dirty="0"/>
              <a:t>Solution</a:t>
            </a:r>
            <a:r>
              <a:rPr lang="en-US" sz="1800" dirty="0"/>
              <a:t>: Rather than deleting, the script renames files by adding.txt (</a:t>
            </a:r>
            <a:r>
              <a:rPr lang="en-US" sz="1800" dirty="0" err="1"/>
              <a:t>file.php</a:t>
            </a:r>
            <a:r>
              <a:rPr lang="en-US" sz="1800" dirty="0"/>
              <a:t> -&gt; file.php.txt) thus making them non executable and kept for analysis with the ability to easily rollback if needed.</a:t>
            </a:r>
          </a:p>
          <a:p>
            <a:pPr marL="0" indent="0">
              <a:lnSpc>
                <a:spcPct val="90000"/>
              </a:lnSpc>
              <a:buNone/>
            </a:pPr>
            <a:endParaRPr lang="en-US" sz="18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800" b="1" dirty="0"/>
              <a:t>4. Handling encoding issues during file reading.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800" b="1" dirty="0"/>
              <a:t>Challenges: </a:t>
            </a:r>
            <a:r>
              <a:rPr lang="en-US" sz="1800" dirty="0"/>
              <a:t>There might be some files with non UTF-8 characters or binary content which can cause read errors or script crashes.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800" b="1" dirty="0"/>
              <a:t>Solution: </a:t>
            </a:r>
            <a:r>
              <a:rPr lang="en-US" sz="1800" dirty="0"/>
              <a:t>The script uses</a:t>
            </a:r>
            <a:br>
              <a:rPr lang="en-US" sz="1800" dirty="0"/>
            </a:br>
            <a:r>
              <a:rPr lang="en-US" sz="1800" dirty="0"/>
              <a:t>“with open(</a:t>
            </a:r>
            <a:r>
              <a:rPr lang="en-US" sz="1800" dirty="0" err="1"/>
              <a:t>file_path</a:t>
            </a:r>
            <a:r>
              <a:rPr lang="en-US" sz="1800" dirty="0"/>
              <a:t>, 'r', encoding='utf-8', errors='ignore') as f: content = </a:t>
            </a:r>
            <a:r>
              <a:rPr lang="en-US" sz="1800" dirty="0" err="1"/>
              <a:t>f.read</a:t>
            </a:r>
            <a:r>
              <a:rPr lang="en-US" sz="1800" dirty="0"/>
              <a:t>()”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800" dirty="0"/>
              <a:t>To ensure that text files are read correctly, use encoding="utf-8". This option prevents crashes in case unreadable characters are found by using errors="ignore".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32D45EE4-C4F0-4F72-B1C6-39F596D13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8C459BAD-4279-4A9D-B0C5-662C5F5ED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1696472" y="-729002"/>
            <a:ext cx="5649003" cy="7988753"/>
          </a:xfrm>
          <a:custGeom>
            <a:avLst/>
            <a:gdLst>
              <a:gd name="connsiteX0" fmla="*/ 0 w 5649003"/>
              <a:gd name="connsiteY0" fmla="*/ 3994377 h 7988753"/>
              <a:gd name="connsiteX1" fmla="*/ 2824502 w 5649003"/>
              <a:gd name="connsiteY1" fmla="*/ 0 h 7988753"/>
              <a:gd name="connsiteX2" fmla="*/ 5649004 w 5649003"/>
              <a:gd name="connsiteY2" fmla="*/ 3994377 h 7988753"/>
              <a:gd name="connsiteX3" fmla="*/ 2824502 w 5649003"/>
              <a:gd name="connsiteY3" fmla="*/ 7988754 h 7988753"/>
              <a:gd name="connsiteX4" fmla="*/ 0 w 5649003"/>
              <a:gd name="connsiteY4" fmla="*/ 3994377 h 7988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49003" h="7988753" fill="none" extrusionOk="0">
                <a:moveTo>
                  <a:pt x="0" y="3994377"/>
                </a:moveTo>
                <a:cubicBezTo>
                  <a:pt x="186946" y="1724370"/>
                  <a:pt x="1438121" y="-52385"/>
                  <a:pt x="2824502" y="0"/>
                </a:cubicBezTo>
                <a:cubicBezTo>
                  <a:pt x="4573533" y="-25557"/>
                  <a:pt x="5524760" y="1760129"/>
                  <a:pt x="5649004" y="3994377"/>
                </a:cubicBezTo>
                <a:cubicBezTo>
                  <a:pt x="5518761" y="6222535"/>
                  <a:pt x="4285196" y="8231096"/>
                  <a:pt x="2824502" y="7988754"/>
                </a:cubicBezTo>
                <a:cubicBezTo>
                  <a:pt x="1332602" y="8079924"/>
                  <a:pt x="181951" y="6393158"/>
                  <a:pt x="0" y="3994377"/>
                </a:cubicBezTo>
                <a:close/>
              </a:path>
              <a:path w="5649003" h="7988753" stroke="0" extrusionOk="0">
                <a:moveTo>
                  <a:pt x="0" y="3994377"/>
                </a:moveTo>
                <a:cubicBezTo>
                  <a:pt x="-54350" y="1735993"/>
                  <a:pt x="1351726" y="167869"/>
                  <a:pt x="2824502" y="0"/>
                </a:cubicBezTo>
                <a:cubicBezTo>
                  <a:pt x="4343116" y="-29476"/>
                  <a:pt x="5695592" y="2113332"/>
                  <a:pt x="5649004" y="3994377"/>
                </a:cubicBezTo>
                <a:cubicBezTo>
                  <a:pt x="5518596" y="6213441"/>
                  <a:pt x="4081190" y="7959286"/>
                  <a:pt x="2824502" y="7988754"/>
                </a:cubicBezTo>
                <a:cubicBezTo>
                  <a:pt x="1192166" y="7815502"/>
                  <a:pt x="-92001" y="6198372"/>
                  <a:pt x="0" y="3994377"/>
                </a:cubicBezTo>
                <a:close/>
              </a:path>
            </a:pathLst>
          </a:custGeom>
          <a:solidFill>
            <a:schemeClr val="accent2"/>
          </a:solidFill>
          <a:ln w="5715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63743190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49908" y="1911096"/>
            <a:ext cx="6041898" cy="2076651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5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Q&amp;A</a:t>
            </a:r>
          </a:p>
        </p:txBody>
      </p:sp>
      <p:sp>
        <p:nvSpPr>
          <p:cNvPr id="41" name="sketch line">
            <a:extLst>
              <a:ext uri="{FF2B5EF4-FFF2-40B4-BE49-F238E27FC236}">
                <a16:creationId xmlns:a16="http://schemas.microsoft.com/office/drawing/2014/main" id="{0953BC39-9D68-40BE-BF3C-5C4EB782AF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80654" y="4173498"/>
            <a:ext cx="3182692" cy="18288"/>
          </a:xfrm>
          <a:custGeom>
            <a:avLst/>
            <a:gdLst>
              <a:gd name="connsiteX0" fmla="*/ 0 w 3182692"/>
              <a:gd name="connsiteY0" fmla="*/ 0 h 18288"/>
              <a:gd name="connsiteX1" fmla="*/ 604711 w 3182692"/>
              <a:gd name="connsiteY1" fmla="*/ 0 h 18288"/>
              <a:gd name="connsiteX2" fmla="*/ 1241250 w 3182692"/>
              <a:gd name="connsiteY2" fmla="*/ 0 h 18288"/>
              <a:gd name="connsiteX3" fmla="*/ 1909615 w 3182692"/>
              <a:gd name="connsiteY3" fmla="*/ 0 h 18288"/>
              <a:gd name="connsiteX4" fmla="*/ 2577981 w 3182692"/>
              <a:gd name="connsiteY4" fmla="*/ 0 h 18288"/>
              <a:gd name="connsiteX5" fmla="*/ 3182692 w 3182692"/>
              <a:gd name="connsiteY5" fmla="*/ 0 h 18288"/>
              <a:gd name="connsiteX6" fmla="*/ 3182692 w 3182692"/>
              <a:gd name="connsiteY6" fmla="*/ 18288 h 18288"/>
              <a:gd name="connsiteX7" fmla="*/ 2482500 w 3182692"/>
              <a:gd name="connsiteY7" fmla="*/ 18288 h 18288"/>
              <a:gd name="connsiteX8" fmla="*/ 1782308 w 3182692"/>
              <a:gd name="connsiteY8" fmla="*/ 18288 h 18288"/>
              <a:gd name="connsiteX9" fmla="*/ 1145769 w 3182692"/>
              <a:gd name="connsiteY9" fmla="*/ 18288 h 18288"/>
              <a:gd name="connsiteX10" fmla="*/ 0 w 3182692"/>
              <a:gd name="connsiteY10" fmla="*/ 18288 h 18288"/>
              <a:gd name="connsiteX11" fmla="*/ 0 w 3182692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126686" y="-21366"/>
                  <a:pt x="467788" y="9025"/>
                  <a:pt x="604711" y="0"/>
                </a:cubicBezTo>
                <a:cubicBezTo>
                  <a:pt x="741634" y="-9025"/>
                  <a:pt x="1061620" y="6814"/>
                  <a:pt x="1241250" y="0"/>
                </a:cubicBezTo>
                <a:cubicBezTo>
                  <a:pt x="1420880" y="-6814"/>
                  <a:pt x="1713773" y="13383"/>
                  <a:pt x="1909615" y="0"/>
                </a:cubicBezTo>
                <a:cubicBezTo>
                  <a:pt x="2105457" y="-13383"/>
                  <a:pt x="2257256" y="13567"/>
                  <a:pt x="2577981" y="0"/>
                </a:cubicBezTo>
                <a:cubicBezTo>
                  <a:pt x="2898706" y="-13567"/>
                  <a:pt x="3026063" y="6328"/>
                  <a:pt x="3182692" y="0"/>
                </a:cubicBezTo>
                <a:cubicBezTo>
                  <a:pt x="3181983" y="8157"/>
                  <a:pt x="3182279" y="12125"/>
                  <a:pt x="3182692" y="18288"/>
                </a:cubicBezTo>
                <a:cubicBezTo>
                  <a:pt x="2998421" y="21742"/>
                  <a:pt x="2675038" y="19014"/>
                  <a:pt x="2482500" y="18288"/>
                </a:cubicBezTo>
                <a:cubicBezTo>
                  <a:pt x="2289962" y="17562"/>
                  <a:pt x="1930644" y="6834"/>
                  <a:pt x="1782308" y="18288"/>
                </a:cubicBezTo>
                <a:cubicBezTo>
                  <a:pt x="1633972" y="29742"/>
                  <a:pt x="1287388" y="-1992"/>
                  <a:pt x="1145769" y="18288"/>
                </a:cubicBezTo>
                <a:cubicBezTo>
                  <a:pt x="1004150" y="38568"/>
                  <a:pt x="256377" y="-37438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83446" y="18201"/>
                  <a:pt x="432812" y="7290"/>
                  <a:pt x="604711" y="0"/>
                </a:cubicBezTo>
                <a:cubicBezTo>
                  <a:pt x="776610" y="-7290"/>
                  <a:pt x="982253" y="15478"/>
                  <a:pt x="1145769" y="0"/>
                </a:cubicBezTo>
                <a:cubicBezTo>
                  <a:pt x="1309285" y="-15478"/>
                  <a:pt x="1514247" y="-25520"/>
                  <a:pt x="1845961" y="0"/>
                </a:cubicBezTo>
                <a:cubicBezTo>
                  <a:pt x="2177675" y="25520"/>
                  <a:pt x="2297588" y="16646"/>
                  <a:pt x="2450673" y="0"/>
                </a:cubicBezTo>
                <a:cubicBezTo>
                  <a:pt x="2603758" y="-16646"/>
                  <a:pt x="3023048" y="-21196"/>
                  <a:pt x="3182692" y="0"/>
                </a:cubicBezTo>
                <a:cubicBezTo>
                  <a:pt x="3182428" y="4493"/>
                  <a:pt x="3183076" y="9472"/>
                  <a:pt x="3182692" y="18288"/>
                </a:cubicBezTo>
                <a:cubicBezTo>
                  <a:pt x="3039109" y="-12701"/>
                  <a:pt x="2823860" y="13848"/>
                  <a:pt x="2546154" y="18288"/>
                </a:cubicBezTo>
                <a:cubicBezTo>
                  <a:pt x="2268448" y="22728"/>
                  <a:pt x="2098674" y="5291"/>
                  <a:pt x="1845961" y="18288"/>
                </a:cubicBezTo>
                <a:cubicBezTo>
                  <a:pt x="1593248" y="31285"/>
                  <a:pt x="1456743" y="27560"/>
                  <a:pt x="1304904" y="18288"/>
                </a:cubicBezTo>
                <a:cubicBezTo>
                  <a:pt x="1153065" y="9016"/>
                  <a:pt x="947204" y="11126"/>
                  <a:pt x="668365" y="18288"/>
                </a:cubicBezTo>
                <a:cubicBezTo>
                  <a:pt x="389526" y="25450"/>
                  <a:pt x="288244" y="-4628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809</Words>
  <Application>Microsoft Office PowerPoint</Application>
  <PresentationFormat>On-screen Show (4:3)</PresentationFormat>
  <Paragraphs>57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Automating Malicious File Neutralization</vt:lpstr>
      <vt:lpstr>Introduction</vt:lpstr>
      <vt:lpstr>Project Goal</vt:lpstr>
      <vt:lpstr>Characteristics of Malicious Files</vt:lpstr>
      <vt:lpstr>Script 1: Scanning Files</vt:lpstr>
      <vt:lpstr>Script 2: Identifying Files by Prefix</vt:lpstr>
      <vt:lpstr>Script 3: Identifying Files by IP Address</vt:lpstr>
      <vt:lpstr>Script 4: Neutralizing Files</vt:lpstr>
      <vt:lpstr>Implementation Summary</vt:lpstr>
      <vt:lpstr>Challenges &amp; Solutions</vt:lpstr>
      <vt:lpstr>Challenges &amp; Solutions</vt:lpstr>
      <vt:lpstr>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Meera Pillai</cp:lastModifiedBy>
  <cp:revision>45</cp:revision>
  <dcterms:created xsi:type="dcterms:W3CDTF">2013-01-27T09:14:16Z</dcterms:created>
  <dcterms:modified xsi:type="dcterms:W3CDTF">2025-03-14T03:33:03Z</dcterms:modified>
  <cp:category/>
</cp:coreProperties>
</file>